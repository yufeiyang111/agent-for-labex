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Labex 实验教学管理系统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架构分析与数据库设计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0" y="3566160"/>
            <a:ext cx="210312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基于 Spring Boot + Vue 3 技术栈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914400" y="16916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16002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数据库分析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21031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数据库选型、ER模型、表结构设计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02920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69164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00800" y="16916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0" y="16002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代码分析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21031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设计模式应用：单例、工厂、策略、代理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502920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2044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914400" y="35204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34290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架构分析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920240" y="39319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部署架构、技术栈、运维监控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00400"/>
            <a:ext cx="502920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520440"/>
            <a:ext cx="822960" cy="8229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6400800" y="3520440"/>
            <a:ext cx="822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06640" y="342900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ATAM评估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06640" y="393192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质量属性、敏感点、权衡点分析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数据库分析 - 数据库选型依据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为什么选择 MySQL？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3035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丰富的数据类型支持（TEXT、JSON）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主从复制、读写分离方案成熟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与 Spring Boot 生态集成良好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核心表结构概览</a:t>
            </a:r>
            <a:endParaRPr lang="en-US" sz="20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6217920" y="173736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6400800" y="1737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t_teacher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686800" y="17373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教师/管理员表</a:t>
            </a:r>
            <a:endParaRPr lang="en-US" sz="1100" dirty="0"/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6217920" y="210312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t_student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8686800" y="21031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学生信息表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6217920" y="246888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6400800" y="24688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t_clazz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8686800" y="2468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班级管理表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6217920" y="283464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t_question</a:t>
            </a:r>
            <a:endParaRPr lang="en-US" sz="11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8686800" y="28346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题库表(支持4种题型)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6217920" y="320040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6400800" y="3200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t_exam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8686800" y="32004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考试配置表</a:t>
            </a:r>
            <a:endParaRPr lang="en-US" sz="11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6217920" y="356616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6400800" y="3566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t_homework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8686800" y="35661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作业配置表</a:t>
            </a:r>
            <a:endParaRPr lang="en-US" sz="11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6217920" y="393192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t_paper</a:t>
            </a: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8686800" y="39319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试卷配置表</a:t>
            </a:r>
            <a:endParaRPr lang="en-US" sz="1100" dirty="0"/>
          </a:p>
        </p:txBody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6217920" y="4297680"/>
            <a:ext cx="73152" cy="2743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9" name="Text 27"/>
          <p:cNvSpPr/>
          <p:nvPr>
            <p:custDataLst>
              <p:tags r:id="rId23"/>
            </p:custDataLst>
          </p:nvPr>
        </p:nvSpPr>
        <p:spPr>
          <a:xfrm>
            <a:off x="6400800" y="4297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t_student_homework_question</a:t>
            </a:r>
            <a:endParaRPr lang="en-US" sz="1100" dirty="0"/>
          </a:p>
        </p:txBody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8686800" y="4297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学生作业答题记录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数据库分析 - ER模型图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0050780" y="1998345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关系说明</a:t>
            </a:r>
            <a:r>
              <a:rPr lang="en-US" sz="10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0780" y="1814830"/>
            <a:ext cx="2096135" cy="24288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 1:N Clazz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Clazz 1:N Student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 1:N Question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 N:1 Paper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 1:N StudentQuestion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Homework 1:N StudentHomework</a:t>
            </a:r>
            <a:endParaRPr lang="en-US" sz="1000" b="1" dirty="0"/>
          </a:p>
        </p:txBody>
      </p:sp>
      <p:pic>
        <p:nvPicPr>
          <p:cNvPr id="38" name="mermaid diagram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43965" y="1279525"/>
            <a:ext cx="8801735" cy="5197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数据库分析 - 核心表结构设计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t_question 题库表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554480"/>
          <a:ext cx="530352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286000"/>
              </a:tblGrid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字段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类型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说明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主键，自增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question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TEXT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题目内容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answer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VARCHAR(500)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标准答案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type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题型(1-6)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score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分值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options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TEXT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选项(JSON)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analysis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TEXT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答案解析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teacher_id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出题教师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t_student_question 学生答题表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6217920" y="1554480"/>
          <a:ext cx="530352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2560320"/>
              </a:tblGrid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字段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类型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说明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记录ID主键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exam_id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考试ID FK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student_id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学生ID FK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question_id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题目ID FK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my_answer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TEXT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学生答案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score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得分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is_correct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TINYINT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是否正确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graded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TINYINT(1)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是否已评分</a:t>
                      </a:r>
                      <a:endParaRPr lang="en-US" sz="10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297680"/>
            <a:ext cx="11247120" cy="640080"/>
          </a:xfrm>
          <a:prstGeom prst="rect">
            <a:avLst/>
          </a:prstGeom>
          <a:solidFill>
            <a:srgbClr val="CADCFC">
              <a:alpha val="5000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索引策略：复合索引 (exam_id, student_id, question_id) 确保联合查询高效；唯一键 uk_exam_student_question 防止重复提交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设计模式在项目中的具体应用</a:t>
            </a:r>
            <a:endParaRPr lang="en-US" sz="2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274320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548640" y="182880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2F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48640" y="26517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单例模式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31520" y="32004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JwtUtil、PasswordEncoder</a:t>
            </a:r>
            <a:endParaRPr lang="en-US" sz="10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31520" y="374904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全局唯一身份认证组件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3474720" y="1645920"/>
            <a:ext cx="274320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3474720" y="182880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2F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474720" y="26517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工厂模式</a:t>
            </a:r>
            <a:endParaRPr lang="en-US" sz="18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3657600" y="32004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ServiceImplextends</a:t>
            </a:r>
            <a:endParaRPr lang="en-US" sz="10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3657600" y="374904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Bean统一创建管理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6400800" y="1645920"/>
            <a:ext cx="274320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400800" y="182880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2F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6400800" y="26517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策略模式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6583680" y="32004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verifyPassword()</a:t>
            </a:r>
            <a:endParaRPr lang="en-US" sz="10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6583680" y="374904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支持BCrypt/MD5/明文多种密码验证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9326880" y="1645920"/>
            <a:ext cx="274320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9326880" y="182880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3B82F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9326880" y="265176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代理模式</a:t>
            </a:r>
            <a:endParaRPr lang="en-US" sz="18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9509760" y="320040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MyBatis Plus</a:t>
            </a:r>
            <a:endParaRPr lang="en-US" sz="10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9509760" y="374904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ORM层拦截，自动SQL生成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代码分析 - 单例模式实现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858000" cy="365760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5" name="Text 3"/>
          <p:cNvSpPr/>
          <p:nvPr/>
        </p:nvSpPr>
        <p:spPr>
          <a:xfrm>
            <a:off x="640080" y="1280160"/>
            <a:ext cx="649224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AuthController.java (Line 57)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 final PasswordEncoder passwordEncoder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= new BCryptPasswordEncoder();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JwtUtil.java - Spring Bean Singleton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JwtUtil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@Autowired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private JwtConfig jwtConfig;  // 单例注入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String generateToken(...)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Token生成逻辑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boolean validateToken(String token)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Token验证逻辑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应用场景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1554480"/>
            <a:ext cx="4114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PasswordEncoder：BCrypt加密算法实例，避免重复创建开销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JwtUtil：Token生成与验证逻辑，保证全局状态一致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节省资源：避免频繁创建销毁重量级对象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线程安全：Spring容器管理的Bean默认单例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3931920"/>
            <a:ext cx="4114800" cy="731520"/>
          </a:xfrm>
          <a:prstGeom prst="rect">
            <a:avLst/>
          </a:prstGeom>
          <a:solidFill>
            <a:srgbClr val="10B981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7772400" y="406908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设计意图：确保全局只有一个密码编码器实例，保证加密结果一致性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代码分析 - 策略模式实现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858000" cy="320040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5" name="Text 3"/>
          <p:cNvSpPr/>
          <p:nvPr/>
        </p:nvSpPr>
        <p:spPr>
          <a:xfrm>
            <a:off x="640080" y="1280160"/>
            <a:ext cx="64922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AuthController.java (Line 141-159)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 boolean verifyPassword(String raw, String stored)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策略1: BCrypt匹配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(stored.startsWith("$2"))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passwordEncoder.matches(raw, stored);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策略2: MD5匹配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(stored.length() == 32 &amp;&amp; stored.matches("^[a-fA-F0-9]{32}$"))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stored.equalsIgnoreCase(md5(raw));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策略3: 明文匹配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stored.equals(raw);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589520" y="10972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设计优势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0" y="1554480"/>
            <a:ext cx="41148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向后兼容：支持新旧密码格式共存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灵活扩展：新增策略不影响现有代码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符合开闭原则：对修改关闭，对扩展开放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解耦合：验证逻辑与策略实现分离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0" y="365760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策略对比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589520" y="3977640"/>
          <a:ext cx="4114800" cy="82296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554480"/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策略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安全性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场景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BCrypt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高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生产环境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MD5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中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历史数据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明文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低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测试环境</a:t>
                      </a:r>
                      <a:endParaRPr lang="en-US" sz="9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代码分析 - 代理模式实现</a:t>
            </a:r>
            <a:endParaRPr lang="en-US" sz="28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MyBatis Plus 代理拦截</a:t>
            </a:r>
            <a:endParaRPr lang="en-US" sz="1800" dirty="0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1691640"/>
            <a:ext cx="51206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QuestionServiceImpl.java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QuestionServiceImpl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extends ServiceImpl&lt;QuestionMapper, Question&gt;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implements QuestionService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无需编写SQL，BaseMapper提供：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- selectById()    - insert()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- updateById()    - deleteById()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- list()          - page()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LambdaQuery 代理查询</a:t>
            </a:r>
            <a:endParaRPr lang="en-US" sz="18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6217920" y="1554480"/>
            <a:ext cx="5486400" cy="2011680"/>
          </a:xfrm>
          <a:prstGeom prst="rect">
            <a:avLst/>
          </a:prstGeom>
          <a:solidFill>
            <a:srgbClr val="1E1E1E"/>
          </a:solidFill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6400800" y="1691640"/>
            <a:ext cx="51206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findByTeacherId() 示例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this.lambdaQuery()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.eq(Question::getTeacherId, teacherId)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.orderByDesc(Question::getId)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.list();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等价SQL: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SELECT * FROM t_question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WHERE teacher_id = 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ORDER BY id DESC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代理模式优势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112471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无SQL编写：通过Lambda表达式自动生成类型安全SQL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零配置：继承ServiceImpl自动获得CRUD能力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拦截器链：MyBatis插件体系实现分页、逻辑删除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性能优化：SQL缓存在代理层完成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架构分析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系统部署架构图</a:t>
            </a:r>
            <a:endParaRPr lang="en-US" sz="2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914400" y="1828800"/>
            <a:ext cx="2286000" cy="10972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914400" y="219456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浏览器客户端</a:t>
            </a:r>
            <a:endParaRPr lang="en-US" sz="1200" dirty="0"/>
          </a:p>
        </p:txBody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4572000" y="1828800"/>
            <a:ext cx="2286000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4572000" y="210312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Nginx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反向代理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1828800"/>
            <a:ext cx="2286000" cy="10972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9" name="Text 7"/>
          <p:cNvSpPr/>
          <p:nvPr/>
        </p:nvSpPr>
        <p:spPr>
          <a:xfrm>
            <a:off x="8229600" y="210312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API服务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3657600"/>
            <a:ext cx="2286000" cy="91440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1" name="Text 9"/>
          <p:cNvSpPr/>
          <p:nvPr/>
        </p:nvSpPr>
        <p:spPr>
          <a:xfrm>
            <a:off x="8229600" y="397764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3200400" y="2377440"/>
            <a:ext cx="1371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6858000" y="2377440"/>
            <a:ext cx="1371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72600" y="2926080"/>
            <a:ext cx="0" cy="7315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474720" y="20116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HTTP/HTTPS</a:t>
            </a:r>
            <a:endParaRPr lang="en-US" sz="800" dirty="0"/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7132320" y="20116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AJAX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0" y="338328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JDBC</a:t>
            </a:r>
            <a:endParaRPr lang="en-US" sz="80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914400" y="36576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技术栈组合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70325"/>
            <a:ext cx="3200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前端: Vue 3 + Element Plus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后端: Spring Boot 3 + MyBatis Plus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安全: Spring Security + JWT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数据库: MySQL 8.0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容器: Docker</a:t>
            </a:r>
            <a:endParaRPr lang="en-US" sz="1000" dirty="0"/>
          </a:p>
        </p:txBody>
      </p:sp>
      <p:sp>
        <p:nvSpPr>
          <p:cNvPr id="20" name="Text 18"/>
          <p:cNvSpPr/>
          <p:nvPr>
            <p:custDataLst>
              <p:tags r:id="rId10"/>
            </p:custDataLst>
          </p:nvPr>
        </p:nvSpPr>
        <p:spPr>
          <a:xfrm>
            <a:off x="4572000" y="365760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关键配置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931920"/>
            <a:ext cx="3200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端口: 8080 (后端) / 80 (Nginx)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JWT过期: 24h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密码加密: BCrypt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CORS: 全支持跨域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ATAM架构评估 - 质量属性场景分析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2743200"/>
                <a:gridCol w="3657600"/>
              </a:tblGrid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质量属性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场景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敏感点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权衡点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性能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并发100用户响应&lt;2s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数据库索引、SQL优化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缓存一致性 vs 实时性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安全性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JWT Token防伪造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密码BCrypt加密、签名验证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安全强度 vs 性能开销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可用性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服务可用性99.9%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Spring Boot健康检查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多实例部署 vs 成本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可维护性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新功能开发周期&lt;1周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模块解耦、代码规范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低耦合 vs 团队协作效率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可扩展性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支持题型扩展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策略模式、插件化设计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扩展性 vs 复杂度</a:t>
                      </a:r>
                      <a:endParaRPr lang="en-US" sz="11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敏感点分析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数据库索引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920240" y="4343400"/>
            <a:ext cx="3657600" cy="182880"/>
          </a:xfrm>
          <a:prstGeom prst="rect">
            <a:avLst/>
          </a:prstGeom>
          <a:solidFill>
            <a:srgbClr val="CADCFC">
              <a:alpha val="5000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1920240" y="4343400"/>
            <a:ext cx="3108960" cy="18288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9" name="Text 6"/>
          <p:cNvSpPr/>
          <p:nvPr/>
        </p:nvSpPr>
        <p:spPr>
          <a:xfrm>
            <a:off x="5669280" y="42976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85%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4617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JWT验证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20240" y="4663440"/>
            <a:ext cx="3657600" cy="182880"/>
          </a:xfrm>
          <a:prstGeom prst="rect">
            <a:avLst/>
          </a:prstGeom>
          <a:solidFill>
            <a:srgbClr val="CADCFC">
              <a:alpha val="50000"/>
            </a:srgbClr>
          </a:solidFill>
        </p:spPr>
      </p:sp>
      <p:sp>
        <p:nvSpPr>
          <p:cNvPr id="4" name="Shape 9"/>
          <p:cNvSpPr/>
          <p:nvPr/>
        </p:nvSpPr>
        <p:spPr>
          <a:xfrm>
            <a:off x="1920240" y="4663440"/>
            <a:ext cx="2560320" cy="1828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0"/>
          <p:cNvSpPr/>
          <p:nvPr/>
        </p:nvSpPr>
        <p:spPr>
          <a:xfrm>
            <a:off x="5669280" y="46177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9377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ORM代理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920240" y="4983480"/>
            <a:ext cx="3657600" cy="182880"/>
          </a:xfrm>
          <a:prstGeom prst="rect">
            <a:avLst/>
          </a:prstGeom>
          <a:solidFill>
            <a:srgbClr val="CADCFC">
              <a:alpha val="5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1920240" y="4983480"/>
            <a:ext cx="2194560" cy="1828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Text 14"/>
          <p:cNvSpPr/>
          <p:nvPr/>
        </p:nvSpPr>
        <p:spPr>
          <a:xfrm>
            <a:off x="5669280" y="4937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5257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密码加密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20240" y="5303520"/>
            <a:ext cx="3657600" cy="182880"/>
          </a:xfrm>
          <a:prstGeom prst="rect">
            <a:avLst/>
          </a:prstGeom>
          <a:solidFill>
            <a:srgbClr val="CADCFC">
              <a:alpha val="50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1920240" y="5303520"/>
            <a:ext cx="2011680" cy="18288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8"/>
          <p:cNvSpPr/>
          <p:nvPr/>
        </p:nvSpPr>
        <p:spPr>
          <a:xfrm>
            <a:off x="5669280" y="5257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55%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58000" y="384048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关键权衡点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858000" y="4297680"/>
            <a:ext cx="4846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BCrypt计算成本高 vs 密码安全性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读写分离增加复杂度 vs 性能提升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微服务拆分 vs 运维成本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实时缓存 vs 数据一致性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结论与评估</a:t>
            </a:r>
            <a:endParaRPr lang="en-US" sz="36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8640" y="1463040"/>
            <a:ext cx="347472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架构优势</a:t>
            </a:r>
            <a:endParaRPr lang="en-US" sz="1800" dirty="0"/>
          </a:p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1005840" y="2286000"/>
            <a:ext cx="2560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822960" y="2468880"/>
            <a:ext cx="29260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分层清晰：Controller/Service/Mapper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设计模式合理应用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JWT无状态认证</a:t>
            </a:r>
            <a:endParaRPr lang="en-US" sz="1200" dirty="0"/>
          </a:p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4389120" y="1463040"/>
            <a:ext cx="347472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4389120" y="164592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待改进点</a:t>
            </a:r>
            <a:endParaRPr lang="en-US" sz="1800" dirty="0"/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4846320" y="2286000"/>
            <a:ext cx="2560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4663440" y="2468880"/>
            <a:ext cx="29260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缺少熔断降级机制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缓存层缺失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监控体系不完善</a:t>
            </a:r>
            <a:endParaRPr lang="en-US" sz="1200" dirty="0"/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8229600" y="1463040"/>
            <a:ext cx="3474720" cy="2926080"/>
          </a:xfrm>
          <a:prstGeom prst="rect">
            <a:avLst/>
          </a:prstGeom>
          <a:solidFill>
            <a:srgbClr val="1E2761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8229600" y="164592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运维建议</a:t>
            </a:r>
            <a:endParaRPr lang="en-US" sz="1800" dirty="0"/>
          </a:p>
        </p:txBody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8686800" y="2286000"/>
            <a:ext cx="2560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8503920" y="2468880"/>
            <a:ext cx="29260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添加Redis缓存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部署SkyWalking监控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配置自动化备份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整体架构评估：通过  |  架构评级：B+  |  建议：补充缓存与监控层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3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4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5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6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7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8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9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0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1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2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3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4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5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6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7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8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19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0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1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2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3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4.xml><?xml version="1.0" encoding="utf-8"?>
<p:tagLst xmlns:p="http://schemas.openxmlformats.org/presentationml/2006/main">
  <p:tag name="KSO_WM_DIAGRAM_VIRTUALLY_FRAME" val="{&quot;height&quot;:223.2,&quot;left&quot;:489.6,&quot;top&quot;:136.8,&quot;width&quot;:432}"/>
</p:tagLst>
</file>

<file path=ppt/tags/tag25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26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27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28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29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0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1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2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3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4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5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6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7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8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39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40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41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42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43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44.xml><?xml version="1.0" encoding="utf-8"?>
<p:tagLst xmlns:p="http://schemas.openxmlformats.org/presentationml/2006/main">
  <p:tag name="KSO_WM_DIAGRAM_VIRTUALLY_FRAME" val="{&quot;height&quot;:230.4,&quot;left&quot;:43.2,&quot;top&quot;:129.6,&quot;width&quot;:907.2}"/>
</p:tagLst>
</file>

<file path=ppt/tags/tag45.xml><?xml version="1.0" encoding="utf-8"?>
<p:tagLst xmlns:p="http://schemas.openxmlformats.org/presentationml/2006/main">
  <p:tag name="KSO_WM_DIAGRAM_VIRTUALLY_FRAME" val="{&quot;height&quot;:194.4,&quot;left&quot;:36,&quot;top&quot;:86.4,&quot;width&quot;:885.6}"/>
</p:tagLst>
</file>

<file path=ppt/tags/tag46.xml><?xml version="1.0" encoding="utf-8"?>
<p:tagLst xmlns:p="http://schemas.openxmlformats.org/presentationml/2006/main">
  <p:tag name="KSO_WM_DIAGRAM_VIRTUALLY_FRAME" val="{&quot;height&quot;:194.4,&quot;left&quot;:36,&quot;top&quot;:86.4,&quot;width&quot;:885.6}"/>
</p:tagLst>
</file>

<file path=ppt/tags/tag47.xml><?xml version="1.0" encoding="utf-8"?>
<p:tagLst xmlns:p="http://schemas.openxmlformats.org/presentationml/2006/main">
  <p:tag name="KSO_WM_DIAGRAM_VIRTUALLY_FRAME" val="{&quot;height&quot;:194.4,&quot;left&quot;:36,&quot;top&quot;:86.4,&quot;width&quot;:885.6}"/>
</p:tagLst>
</file>

<file path=ppt/tags/tag48.xml><?xml version="1.0" encoding="utf-8"?>
<p:tagLst xmlns:p="http://schemas.openxmlformats.org/presentationml/2006/main">
  <p:tag name="KSO_WM_DIAGRAM_VIRTUALLY_FRAME" val="{&quot;height&quot;:194.4,&quot;left&quot;:36,&quot;top&quot;:86.4,&quot;width&quot;:885.6}"/>
</p:tagLst>
</file>

<file path=ppt/tags/tag49.xml><?xml version="1.0" encoding="utf-8"?>
<p:tagLst xmlns:p="http://schemas.openxmlformats.org/presentationml/2006/main">
  <p:tag name="KSO_WM_DIAGRAM_VIRTUALLY_FRAME" val="{&quot;height&quot;:194.4,&quot;left&quot;:36,&quot;top&quot;:86.4,&quot;width&quot;:885.6}"/>
</p:tagLst>
</file>

<file path=ppt/tags/tag50.xml><?xml version="1.0" encoding="utf-8"?>
<p:tagLst xmlns:p="http://schemas.openxmlformats.org/presentationml/2006/main">
  <p:tag name="KSO_WM_DIAGRAM_VIRTUALLY_FRAME" val="{&quot;height&quot;:194.4,&quot;left&quot;:36,&quot;top&quot;:86.4,&quot;width&quot;:885.6}"/>
</p:tagLst>
</file>

<file path=ppt/tags/tag51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2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3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4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5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6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7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8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59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60.xml><?xml version="1.0" encoding="utf-8"?>
<p:tagLst xmlns:p="http://schemas.openxmlformats.org/presentationml/2006/main">
  <p:tag name="KSO_WM_DIAGRAM_VIRTUALLY_FRAME" val="{&quot;height&quot;:172.8,&quot;left&quot;:72,&quot;top&quot;:144,&quot;width&quot;:576}"/>
</p:tagLst>
</file>

<file path=ppt/tags/tag61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2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3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4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5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6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7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8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69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70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71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ags/tag72.xml><?xml version="1.0" encoding="utf-8"?>
<p:tagLst xmlns:p="http://schemas.openxmlformats.org/presentationml/2006/main">
  <p:tag name="KSO_WM_DIAGRAM_VIRTUALLY_FRAME" val="{&quot;height&quot;:230.4,&quot;left&quot;:43.2,&quot;top&quot;:115.2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3475</Words>
  <Application>WPS 演示</Application>
  <PresentationFormat>On-screen Show (16:9)</PresentationFormat>
  <Paragraphs>487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 Black</vt:lpstr>
      <vt:lpstr>Arial Black</vt:lpstr>
      <vt:lpstr>Arial Black</vt:lpstr>
      <vt:lpstr>Arial</vt:lpstr>
      <vt:lpstr>Arial</vt:lpstr>
      <vt:lpstr>Consolas</vt:lpstr>
      <vt:lpstr>Consolas</vt:lpstr>
      <vt:lpstr>Consolas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Labex 实验教学管理系统架构分析</dc:title>
  <dc:creator>Labex System</dc:creator>
  <dc:subject>PptxGenJS Presentation</dc:subject>
  <cp:lastModifiedBy>Youth For Youth</cp:lastModifiedBy>
  <cp:revision>2</cp:revision>
  <dcterms:created xsi:type="dcterms:W3CDTF">2026-04-21T14:47:00Z</dcterms:created>
  <dcterms:modified xsi:type="dcterms:W3CDTF">2026-04-22T04:51:45Z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0F9B400CA5BA42A3BF0BA6EA41DCF125_12</vt:lpwstr>
  </property>
</Properties>
</file>