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E86AB">
              <a:alpha val="5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48CAE4">
              <a:alpha val="6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CAF0F8">
              <a:alpha val="4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Labex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48CA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实验教学管理系统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技术方案汇报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目录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8CA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457200" y="4956048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Labex 实验教学管理系统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114800" cy="777240"/>
          </a:xfrm>
          <a:prstGeom prst="rect">
            <a:avLst/>
          </a:prstGeom>
          <a:solidFill>
            <a:srgbClr val="CAF0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548640" cy="77724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9" name="Text 7"/>
          <p:cNvSpPr/>
          <p:nvPr/>
        </p:nvSpPr>
        <p:spPr>
          <a:xfrm>
            <a:off x="457200" y="1005840"/>
            <a:ext cx="548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14300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项目背景与目标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463040"/>
            <a:ext cx="3017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005840"/>
            <a:ext cx="548640" cy="77724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14" name="Text 12"/>
          <p:cNvSpPr/>
          <p:nvPr/>
        </p:nvSpPr>
        <p:spPr>
          <a:xfrm>
            <a:off x="4846320" y="1005840"/>
            <a:ext cx="548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114300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需求分析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1463040"/>
            <a:ext cx="3017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P4-5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92024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920240"/>
            <a:ext cx="548640" cy="77724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19" name="Text 17"/>
          <p:cNvSpPr/>
          <p:nvPr/>
        </p:nvSpPr>
        <p:spPr>
          <a:xfrm>
            <a:off x="457200" y="1920240"/>
            <a:ext cx="548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205740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系统架构设计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2377440"/>
            <a:ext cx="3017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P6-8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92024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920240"/>
            <a:ext cx="548640" cy="77724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24" name="Text 22"/>
          <p:cNvSpPr/>
          <p:nvPr/>
        </p:nvSpPr>
        <p:spPr>
          <a:xfrm>
            <a:off x="4846320" y="1920240"/>
            <a:ext cx="548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205740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数据库设计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2377440"/>
            <a:ext cx="3017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P9-10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834640"/>
            <a:ext cx="4114800" cy="777240"/>
          </a:xfrm>
          <a:prstGeom prst="rect">
            <a:avLst/>
          </a:prstGeom>
          <a:solidFill>
            <a:srgbClr val="CAF0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834640"/>
            <a:ext cx="548640" cy="77724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29" name="Text 27"/>
          <p:cNvSpPr/>
          <p:nvPr/>
        </p:nvSpPr>
        <p:spPr>
          <a:xfrm>
            <a:off x="457200" y="2834640"/>
            <a:ext cx="548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297180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功能模块详解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3291840"/>
            <a:ext cx="3017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P11-14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83464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2834640"/>
            <a:ext cx="548640" cy="77724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34" name="Text 32"/>
          <p:cNvSpPr/>
          <p:nvPr/>
        </p:nvSpPr>
        <p:spPr>
          <a:xfrm>
            <a:off x="4846320" y="2834640"/>
            <a:ext cx="548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0" y="297180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安全与性能优化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0" y="3291840"/>
            <a:ext cx="3017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P15-16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74904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3749040"/>
            <a:ext cx="548640" cy="77724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39" name="Text 37"/>
          <p:cNvSpPr/>
          <p:nvPr/>
        </p:nvSpPr>
        <p:spPr>
          <a:xfrm>
            <a:off x="457200" y="3749040"/>
            <a:ext cx="548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97280" y="388620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部署方案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97280" y="4206240"/>
            <a:ext cx="3017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P17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374904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3749040"/>
            <a:ext cx="548640" cy="77724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44" name="Text 42"/>
          <p:cNvSpPr/>
          <p:nvPr/>
        </p:nvSpPr>
        <p:spPr>
          <a:xfrm>
            <a:off x="4846320" y="3749040"/>
            <a:ext cx="548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86400" y="388620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总结与展望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86400" y="4206240"/>
            <a:ext cx="3017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项目背景与目标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8CA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457200" y="4956048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Labex 实验教学管理系统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solidFill>
            <a:srgbClr val="CAF0F8"/>
          </a:solidFill>
        </p:spPr>
      </p:sp>
      <p:sp>
        <p:nvSpPr>
          <p:cNvPr id="8" name="Text 6"/>
          <p:cNvSpPr/>
          <p:nvPr/>
        </p:nvSpPr>
        <p:spPr>
          <a:xfrm>
            <a:off x="640080" y="10972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项目背景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随着高校信息化建设的推进，传统实验教学管理模式存在以下问题：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纸质材料管理繁琐，效率低下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实验报告批改周期长，反馈不及时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成绩统计困难，难以进行学情分析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学生实验过程缺乏有效跟踪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432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项目目标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🎯  构建统一的实验教学管理平台，实现全流程数字化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📊  提供数据分析功能，支持教学决策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88620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🔒  确保系统安全稳定，保护教学数据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25196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📱  支持多终端访问，提升用户体验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需求分析 - 用户角色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8CA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457200" y="4956048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Labex 实验教学管理系统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2651760" cy="5486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9" name="Text 7"/>
          <p:cNvSpPr/>
          <p:nvPr/>
        </p:nvSpPr>
        <p:spPr>
          <a:xfrm>
            <a:off x="457200" y="100584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系统管理员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228600" cy="228600"/>
          </a:xfrm>
          <a:prstGeom prst="ellipse">
            <a:avLst/>
          </a:prstGeom>
          <a:solidFill>
            <a:srgbClr val="1E3A5F"/>
          </a:solidFill>
        </p:spPr>
      </p:sp>
      <p:sp>
        <p:nvSpPr>
          <p:cNvPr id="11" name="Text 9"/>
          <p:cNvSpPr/>
          <p:nvPr/>
        </p:nvSpPr>
        <p:spPr>
          <a:xfrm>
            <a:off x="640080" y="1737360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71907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账号管理与权限分配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331720"/>
            <a:ext cx="228600" cy="228600"/>
          </a:xfrm>
          <a:prstGeom prst="ellipse">
            <a:avLst/>
          </a:prstGeom>
          <a:solidFill>
            <a:srgbClr val="1E3A5F"/>
          </a:solidFill>
        </p:spPr>
      </p:sp>
      <p:sp>
        <p:nvSpPr>
          <p:cNvPr id="14" name="Text 12"/>
          <p:cNvSpPr/>
          <p:nvPr/>
        </p:nvSpPr>
        <p:spPr>
          <a:xfrm>
            <a:off x="640080" y="2331720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31343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系统参数配置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228600" cy="228600"/>
          </a:xfrm>
          <a:prstGeom prst="ellipse">
            <a:avLst/>
          </a:prstGeom>
          <a:solidFill>
            <a:srgbClr val="1E3A5F"/>
          </a:solidFill>
        </p:spPr>
      </p:sp>
      <p:sp>
        <p:nvSpPr>
          <p:cNvPr id="17" name="Text 15"/>
          <p:cNvSpPr/>
          <p:nvPr/>
        </p:nvSpPr>
        <p:spPr>
          <a:xfrm>
            <a:off x="640080" y="2926080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90779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数据备份与恢复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520440"/>
            <a:ext cx="228600" cy="228600"/>
          </a:xfrm>
          <a:prstGeom prst="ellipse">
            <a:avLst/>
          </a:prstGeom>
          <a:solidFill>
            <a:srgbClr val="1E3A5F"/>
          </a:solidFill>
        </p:spPr>
      </p:sp>
      <p:sp>
        <p:nvSpPr>
          <p:cNvPr id="20" name="Text 18"/>
          <p:cNvSpPr/>
          <p:nvPr/>
        </p:nvSpPr>
        <p:spPr>
          <a:xfrm>
            <a:off x="640080" y="3520440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350215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系统运行监控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100584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1005840"/>
            <a:ext cx="2651760" cy="54864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24" name="Text 22"/>
          <p:cNvSpPr/>
          <p:nvPr/>
        </p:nvSpPr>
        <p:spPr>
          <a:xfrm>
            <a:off x="3291840" y="100584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教师用户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474720" y="1737360"/>
            <a:ext cx="228600" cy="228600"/>
          </a:xfrm>
          <a:prstGeom prst="ellipse">
            <a:avLst/>
          </a:prstGeom>
          <a:solidFill>
            <a:srgbClr val="2E86AB"/>
          </a:solidFill>
        </p:spPr>
      </p:sp>
      <p:sp>
        <p:nvSpPr>
          <p:cNvPr id="26" name="Text 24"/>
          <p:cNvSpPr/>
          <p:nvPr/>
        </p:nvSpPr>
        <p:spPr>
          <a:xfrm>
            <a:off x="3474720" y="1737360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94760" y="171907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课程与实验管理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2331720"/>
            <a:ext cx="228600" cy="228600"/>
          </a:xfrm>
          <a:prstGeom prst="ellipse">
            <a:avLst/>
          </a:prstGeom>
          <a:solidFill>
            <a:srgbClr val="2E86AB"/>
          </a:solidFill>
        </p:spPr>
      </p:sp>
      <p:sp>
        <p:nvSpPr>
          <p:cNvPr id="29" name="Text 27"/>
          <p:cNvSpPr/>
          <p:nvPr/>
        </p:nvSpPr>
        <p:spPr>
          <a:xfrm>
            <a:off x="3474720" y="2331720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94760" y="231343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学生信息管理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0" y="2926080"/>
            <a:ext cx="228600" cy="228600"/>
          </a:xfrm>
          <a:prstGeom prst="ellipse">
            <a:avLst/>
          </a:prstGeom>
          <a:solidFill>
            <a:srgbClr val="2E86AB"/>
          </a:solidFill>
        </p:spPr>
      </p:sp>
      <p:sp>
        <p:nvSpPr>
          <p:cNvPr id="32" name="Text 30"/>
          <p:cNvSpPr/>
          <p:nvPr/>
        </p:nvSpPr>
        <p:spPr>
          <a:xfrm>
            <a:off x="3474720" y="2926080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94760" y="290779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在线出题与组卷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74720" y="3520440"/>
            <a:ext cx="228600" cy="228600"/>
          </a:xfrm>
          <a:prstGeom prst="ellipse">
            <a:avLst/>
          </a:prstGeom>
          <a:solidFill>
            <a:srgbClr val="2E86AB"/>
          </a:solidFill>
        </p:spPr>
      </p:sp>
      <p:sp>
        <p:nvSpPr>
          <p:cNvPr id="35" name="Text 33"/>
          <p:cNvSpPr/>
          <p:nvPr/>
        </p:nvSpPr>
        <p:spPr>
          <a:xfrm>
            <a:off x="3474720" y="3520440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794760" y="350215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成绩录入与分析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100584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48CAE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1005840"/>
            <a:ext cx="2651760" cy="548640"/>
          </a:xfrm>
          <a:prstGeom prst="rect">
            <a:avLst/>
          </a:prstGeom>
          <a:solidFill>
            <a:srgbClr val="48CAE4"/>
          </a:solidFill>
        </p:spPr>
      </p:sp>
      <p:sp>
        <p:nvSpPr>
          <p:cNvPr id="39" name="Text 37"/>
          <p:cNvSpPr/>
          <p:nvPr/>
        </p:nvSpPr>
        <p:spPr>
          <a:xfrm>
            <a:off x="6126480" y="100584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学生用户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09360" y="1737360"/>
            <a:ext cx="228600" cy="228600"/>
          </a:xfrm>
          <a:prstGeom prst="ellipse">
            <a:avLst/>
          </a:prstGeom>
          <a:solidFill>
            <a:srgbClr val="48CAE4"/>
          </a:solidFill>
        </p:spPr>
      </p:sp>
      <p:sp>
        <p:nvSpPr>
          <p:cNvPr id="41" name="Text 39"/>
          <p:cNvSpPr/>
          <p:nvPr/>
        </p:nvSpPr>
        <p:spPr>
          <a:xfrm>
            <a:off x="6309360" y="1737360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629400" y="171907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查看实验任务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9360" y="2331720"/>
            <a:ext cx="228600" cy="228600"/>
          </a:xfrm>
          <a:prstGeom prst="ellipse">
            <a:avLst/>
          </a:prstGeom>
          <a:solidFill>
            <a:srgbClr val="48CAE4"/>
          </a:solidFill>
        </p:spPr>
      </p:sp>
      <p:sp>
        <p:nvSpPr>
          <p:cNvPr id="44" name="Text 42"/>
          <p:cNvSpPr/>
          <p:nvPr/>
        </p:nvSpPr>
        <p:spPr>
          <a:xfrm>
            <a:off x="6309360" y="2331720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29400" y="231343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在线完成实验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09360" y="2926080"/>
            <a:ext cx="228600" cy="228600"/>
          </a:xfrm>
          <a:prstGeom prst="ellipse">
            <a:avLst/>
          </a:prstGeom>
          <a:solidFill>
            <a:srgbClr val="48CAE4"/>
          </a:solidFill>
        </p:spPr>
      </p:sp>
      <p:sp>
        <p:nvSpPr>
          <p:cNvPr id="47" name="Text 45"/>
          <p:cNvSpPr/>
          <p:nvPr/>
        </p:nvSpPr>
        <p:spPr>
          <a:xfrm>
            <a:off x="6309360" y="2926080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629400" y="290779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提交实验报告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309360" y="3520440"/>
            <a:ext cx="228600" cy="228600"/>
          </a:xfrm>
          <a:prstGeom prst="ellipse">
            <a:avLst/>
          </a:prstGeom>
          <a:solidFill>
            <a:srgbClr val="48CAE4"/>
          </a:solidFill>
        </p:spPr>
      </p:sp>
      <p:sp>
        <p:nvSpPr>
          <p:cNvPr id="50" name="Text 48"/>
          <p:cNvSpPr/>
          <p:nvPr/>
        </p:nvSpPr>
        <p:spPr>
          <a:xfrm>
            <a:off x="6309360" y="3520440"/>
            <a:ext cx="228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629400" y="350215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查询成绩反馈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需求分析 - 功能需求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8CA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457200" y="4956048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Labex 实验教学管理系统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9" name="Text 7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实验管理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创建/编辑实验内容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81051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设置实验要求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066544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管理实验题目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322576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实验时间安排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16" name="Text 14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考试管理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5544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多种题型支持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81051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自动组卷功能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066544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在线答题系统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322576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自动评分机制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834640"/>
            <a:ext cx="4023360" cy="45720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23" name="Text 21"/>
          <p:cNvSpPr/>
          <p:nvPr/>
        </p:nvSpPr>
        <p:spPr>
          <a:xfrm>
            <a:off x="457200" y="283464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成绩管理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3832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成绩录入导出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63931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成绩统计分析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895344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学情数据分析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151376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成绩对比报表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8346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834640"/>
            <a:ext cx="4023360" cy="45720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30" name="Text 28"/>
          <p:cNvSpPr/>
          <p:nvPr/>
        </p:nvSpPr>
        <p:spPr>
          <a:xfrm>
            <a:off x="4754880" y="283464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系统管理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37760" y="33832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用户权限管理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63931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班级信息管理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3895344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系统参数配置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4151376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操作日志审计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系统架构设计 - 整体架构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8CA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457200" y="4956048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Labex 实验教学管理系统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005840"/>
            <a:ext cx="7315200" cy="640080"/>
          </a:xfrm>
          <a:prstGeom prst="rect">
            <a:avLst/>
          </a:prstGeom>
          <a:solidFill>
            <a:srgbClr val="48CAE4"/>
          </a:solidFill>
        </p:spPr>
      </p:sp>
      <p:sp>
        <p:nvSpPr>
          <p:cNvPr id="8" name="Text 6"/>
          <p:cNvSpPr/>
          <p:nvPr/>
        </p:nvSpPr>
        <p:spPr>
          <a:xfrm>
            <a:off x="914400" y="100584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客户端层 - 浏览器 / 移动端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828800"/>
            <a:ext cx="7315200" cy="64008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10" name="Text 8"/>
          <p:cNvSpPr/>
          <p:nvPr/>
        </p:nvSpPr>
        <p:spPr>
          <a:xfrm>
            <a:off x="914400" y="182880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前端层 - Vue 3 + Element Plus + ECharts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7315200" cy="64008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2" name="Text 10"/>
          <p:cNvSpPr/>
          <p:nvPr/>
        </p:nvSpPr>
        <p:spPr>
          <a:xfrm>
            <a:off x="914400" y="265176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网关层 - Nginx 反向代理 + 负载均衡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474720"/>
            <a:ext cx="7315200" cy="6400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4" name="Text 12"/>
          <p:cNvSpPr/>
          <p:nvPr/>
        </p:nvSpPr>
        <p:spPr>
          <a:xfrm>
            <a:off x="914400" y="34747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后端层 - Spring Boot + Spring Security + MyBatis-Plus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297680"/>
            <a:ext cx="3474720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6" name="Text 14"/>
          <p:cNvSpPr/>
          <p:nvPr/>
        </p:nvSpPr>
        <p:spPr>
          <a:xfrm>
            <a:off x="914400" y="429768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MySQL 数据库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4297680"/>
            <a:ext cx="3474720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8" name="Text 16"/>
          <p:cNvSpPr/>
          <p:nvPr/>
        </p:nvSpPr>
        <p:spPr>
          <a:xfrm>
            <a:off x="4754880" y="429768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Redis 缓存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系统架构设计 - 技术选型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8CA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457200" y="4956048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Labex 实验教学管理系统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3931920" cy="50292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9" name="Text 7"/>
          <p:cNvSpPr/>
          <p:nvPr/>
        </p:nvSpPr>
        <p:spPr>
          <a:xfrm>
            <a:off x="457200" y="1005840"/>
            <a:ext cx="3931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前端技术栈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1188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Vue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160020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渐进式前端框架，Composition API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075688"/>
            <a:ext cx="1188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07568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下一代构建工具，热更新快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551176"/>
            <a:ext cx="1188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Pinia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551176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Vue 3 官方推荐状态管理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026664"/>
            <a:ext cx="1188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Element Plus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3026664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优秀的 UI 组件库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502152"/>
            <a:ext cx="1188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Axios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3502152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HTTP 请求库，支持拦截器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1188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ECharts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397764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数据可视化图表库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005840"/>
            <a:ext cx="3931920" cy="5029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24" name="Text 22"/>
          <p:cNvSpPr/>
          <p:nvPr/>
        </p:nvSpPr>
        <p:spPr>
          <a:xfrm>
            <a:off x="4754880" y="1005840"/>
            <a:ext cx="3931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后端技术栈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160020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160020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主流企业级开发框架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075688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Spring Security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2075688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安全框架，认证授权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2551176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MyBatis-Plus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2551176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ORM框架，简化CRUD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3026664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JWT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3026664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无状态身份认证令牌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3502152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Druid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3502152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数据库连接池，SQL监控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397764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Redis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397764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高性能缓存数据库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系统架构设计 - 安全架构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8CA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457200" y="4956048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Labex 实验教学管理系统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Spring Security 认证授权流程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320040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914400" y="137160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用户登录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828800"/>
            <a:ext cx="0" cy="914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920240"/>
            <a:ext cx="3200400" cy="45720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12" name="Text 10"/>
          <p:cNvSpPr/>
          <p:nvPr/>
        </p:nvSpPr>
        <p:spPr>
          <a:xfrm>
            <a:off x="914400" y="192024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认证过滤器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2377440"/>
            <a:ext cx="0" cy="914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468880"/>
            <a:ext cx="3200400" cy="45720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15" name="Text 13"/>
          <p:cNvSpPr/>
          <p:nvPr/>
        </p:nvSpPr>
        <p:spPr>
          <a:xfrm>
            <a:off x="914400" y="246888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UserDetailsService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14600" y="2926080"/>
            <a:ext cx="0" cy="914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017520"/>
            <a:ext cx="3200400" cy="45720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18" name="Text 16"/>
          <p:cNvSpPr/>
          <p:nvPr/>
        </p:nvSpPr>
        <p:spPr>
          <a:xfrm>
            <a:off x="914400" y="301752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JWT Token 生成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14600" y="3474720"/>
            <a:ext cx="0" cy="914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566160"/>
            <a:ext cx="3200400" cy="45720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21" name="Text 19"/>
          <p:cNvSpPr/>
          <p:nvPr/>
        </p:nvSpPr>
        <p:spPr>
          <a:xfrm>
            <a:off x="914400" y="356616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授权过滤器验证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14600" y="4023360"/>
            <a:ext cx="0" cy="914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114800"/>
            <a:ext cx="320040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4" name="Text 22"/>
          <p:cNvSpPr/>
          <p:nvPr/>
        </p:nvSpPr>
        <p:spPr>
          <a:xfrm>
            <a:off x="914400" y="411480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资源访问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1371600"/>
            <a:ext cx="4114800" cy="3200400"/>
          </a:xfrm>
          <a:prstGeom prst="rect">
            <a:avLst/>
          </a:prstGeom>
          <a:solidFill>
            <a:srgbClr val="CAF0F8"/>
          </a:solidFill>
        </p:spPr>
      </p:sp>
      <p:sp>
        <p:nvSpPr>
          <p:cNvPr id="26" name="Text 24"/>
          <p:cNvSpPr/>
          <p:nvPr/>
        </p:nvSpPr>
        <p:spPr>
          <a:xfrm>
            <a:off x="4754880" y="1463040"/>
            <a:ext cx="374904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JWT Token 无状态认证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支持 Token 自动续期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BCrypt 密码加密存储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RBAC 角色权限控制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页面级权限注解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接口级权限校验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密码错误次数限制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支持 IP 地址绑定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数据库设计 - ER 关系图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8CA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457200" y="4956048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Labex 实验教学管理系统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82880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t_teacher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t_student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011680"/>
            <a:ext cx="182880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01168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t_clazz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1188720"/>
            <a:ext cx="228600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1887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t_experiment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2926080"/>
            <a:ext cx="228600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92608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t_experiment_item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3840480"/>
            <a:ext cx="182880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384048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t_score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关系说明：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0" y="44348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教师 ↔ 班级：1对多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0" y="44348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班级 ↔ 学生：1对多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44348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实验 ↔ 题目：1对多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0" y="44348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学生 ↔ 成绩：1对多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数据库设计 - 核心表结构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8CA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457200" y="4956048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Labex 实验教学管理系统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solidFill>
            <a:srgbClr val="2E86AB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t_teacher 教师表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3749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teacher_id (PK)  INT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teacher_account  VARCHAR(20)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teacher_password  VARCHAR(255)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teacher_name  VARCHAR(20)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role  VARCHAR(20)  [TEACHER/ADMIN]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state  INT  [0禁用/1启用]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solidFill>
            <a:srgbClr val="48CAE4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t_student 学生表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749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student_id (PK)  INT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student_no  VARCHAR(20)  UNIQUE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student_name  VARCHAR(20)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student_password  VARCHAR(255)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clazz_no (FK)  VARCHAR(20)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state  INT  [0禁用/1启用]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error_count  INT  [密码错误次数]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17520"/>
            <a:ext cx="3931920" cy="365760"/>
          </a:xfrm>
          <a:prstGeom prst="rect">
            <a:avLst/>
          </a:prstGeom>
          <a:solidFill>
            <a:srgbClr val="10B981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t_experiment 实验表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37490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experiment_id (PK)  INT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experiment_no  INT  UNIQUE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experiment_name  VARCHAR(100)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experiment_type  INT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experiment_requirement  TEXT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experiment_content  TEXT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017520"/>
            <a:ext cx="3931920" cy="365760"/>
          </a:xfrm>
          <a:prstGeom prst="rect">
            <a:avLst/>
          </a:prstGeom>
          <a:solidFill>
            <a:srgbClr val="F59E0B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t_score 成绩表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429000"/>
            <a:ext cx="37490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score_id (PK)  INT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student_id (FK)  INT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experiment_id (FK)  INT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  INT  [分数]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submit_time  DATETIME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status  INT  [0未提交/1已提交]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 功能模块详解 - 管理员模块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8CA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457200" y="4956048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Labex 实验教学管理系统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9" name="Text 7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账号管理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508760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教师账号创建与禁用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80136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重置教师密码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093976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角色分配（教师/管理员）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386584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登录状态监控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6" name="Text 14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学生管理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508760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批量导入学生信息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80136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学生账号批量创建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093976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学生账号禁用/启用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386584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导出学生数据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926080"/>
            <a:ext cx="4023360" cy="41148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23" name="Text 21"/>
          <p:cNvSpPr/>
          <p:nvPr/>
        </p:nvSpPr>
        <p:spPr>
          <a:xfrm>
            <a:off x="457200" y="2926080"/>
            <a:ext cx="4023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班级管理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3429000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创建/编辑班级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72160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分配班主任/教师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4014216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班级学生列表管理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4306824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班级合并与拆分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92608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926080"/>
            <a:ext cx="4023360" cy="41148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0" name="Text 28"/>
          <p:cNvSpPr/>
          <p:nvPr/>
        </p:nvSpPr>
        <p:spPr>
          <a:xfrm>
            <a:off x="4754880" y="2926080"/>
            <a:ext cx="4023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系统配置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3429000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系统参数设置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372160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数据备份与恢复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4014216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操作日志查询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4306824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系统状态监控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 功能模块详解 - 教师模块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8CA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457200" y="4956048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Labex 实验教学管理系统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9" name="Text 7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实验管理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508760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创建实验课程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80136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设置实验要求与内容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093976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管理实验题目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386584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设置实验时间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16" name="Text 14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题库管理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508760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添加/编辑题目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80136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题目类型：单选/多选/填空/判断/简答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093976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设置题目分值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386584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题目分类管理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926080"/>
            <a:ext cx="4023360" cy="41148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23" name="Text 21"/>
          <p:cNvSpPr/>
          <p:nvPr/>
        </p:nvSpPr>
        <p:spPr>
          <a:xfrm>
            <a:off x="457200" y="2926080"/>
            <a:ext cx="4023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成绩管理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3429000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查看学生成绩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72160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成绩统计分析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4014216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导出成绩报表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4306824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设置及格线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92608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926080"/>
            <a:ext cx="4023360" cy="41148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30" name="Text 28"/>
          <p:cNvSpPr/>
          <p:nvPr/>
        </p:nvSpPr>
        <p:spPr>
          <a:xfrm>
            <a:off x="4754880" y="2926080"/>
            <a:ext cx="4023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学生管理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3429000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查看班级学生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372160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学生实验进度跟踪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4014216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催交实验报告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4306824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 学生留言回复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 功能模块详解 - 学生模块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8CA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457200" y="4956048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Labex 实验教学管理系统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029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48CA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5029200" cy="502920"/>
          </a:xfrm>
          <a:prstGeom prst="rect">
            <a:avLst/>
          </a:prstGeom>
          <a:solidFill>
            <a:srgbClr val="48CAE4"/>
          </a:solidFill>
        </p:spPr>
      </p:sp>
      <p:sp>
        <p:nvSpPr>
          <p:cNvPr id="9" name="Text 7"/>
          <p:cNvSpPr/>
          <p:nvPr/>
        </p:nvSpPr>
        <p:spPr>
          <a:xfrm>
            <a:off x="457200" y="1005840"/>
            <a:ext cx="5029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学生核心功能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164592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实验列表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9659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查看所有已布置的实验任务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08960" y="16459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✍️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66160" y="164592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在线答题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19659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完成实验题目并提交答案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26517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报告提交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9718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上传实验报告及附件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08960" y="26517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566160" y="26517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成绩查询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29718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查看历史成绩与评分详情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97280" y="365760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理论课程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9776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学习课程资料与讲义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08960" y="36576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566160" y="365760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个人中心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66160" y="39776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修改密码、查看个人信息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60720" y="1005840"/>
            <a:ext cx="2926080" cy="3657600"/>
          </a:xfrm>
          <a:prstGeom prst="rect">
            <a:avLst/>
          </a:prstGeom>
          <a:solidFill>
            <a:srgbClr val="CAF0F8"/>
          </a:solidFill>
        </p:spPr>
      </p:sp>
      <p:sp>
        <p:nvSpPr>
          <p:cNvPr id="29" name="Text 27"/>
          <p:cNvSpPr/>
          <p:nvPr/>
        </p:nvSpPr>
        <p:spPr>
          <a:xfrm>
            <a:off x="5760720" y="109728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学习流程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0" y="1554480"/>
            <a:ext cx="320040" cy="320040"/>
          </a:xfrm>
          <a:prstGeom prst="ellipse">
            <a:avLst/>
          </a:prstGeom>
          <a:solidFill>
            <a:srgbClr val="2E86AB"/>
          </a:solidFill>
        </p:spPr>
      </p:sp>
      <p:sp>
        <p:nvSpPr>
          <p:cNvPr id="31" name="Text 29"/>
          <p:cNvSpPr/>
          <p:nvPr/>
        </p:nvSpPr>
        <p:spPr>
          <a:xfrm>
            <a:off x="6400800" y="155448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12280" y="155448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查看实验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2057400"/>
            <a:ext cx="320040" cy="320040"/>
          </a:xfrm>
          <a:prstGeom prst="ellipse">
            <a:avLst/>
          </a:prstGeom>
          <a:solidFill>
            <a:srgbClr val="2E86AB"/>
          </a:solidFill>
        </p:spPr>
      </p:sp>
      <p:sp>
        <p:nvSpPr>
          <p:cNvPr id="34" name="Text 32"/>
          <p:cNvSpPr/>
          <p:nvPr/>
        </p:nvSpPr>
        <p:spPr>
          <a:xfrm>
            <a:off x="6400800" y="205740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12280" y="205740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学习理论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2560320"/>
            <a:ext cx="320040" cy="320040"/>
          </a:xfrm>
          <a:prstGeom prst="ellipse">
            <a:avLst/>
          </a:prstGeom>
          <a:solidFill>
            <a:srgbClr val="2E86AB"/>
          </a:solidFill>
        </p:spPr>
      </p:sp>
      <p:sp>
        <p:nvSpPr>
          <p:cNvPr id="37" name="Text 35"/>
          <p:cNvSpPr/>
          <p:nvPr/>
        </p:nvSpPr>
        <p:spPr>
          <a:xfrm>
            <a:off x="6400800" y="256032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12280" y="256032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完成答题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0" y="3063240"/>
            <a:ext cx="320040" cy="320040"/>
          </a:xfrm>
          <a:prstGeom prst="ellipse">
            <a:avLst/>
          </a:prstGeom>
          <a:solidFill>
            <a:srgbClr val="2E86AB"/>
          </a:solidFill>
        </p:spPr>
      </p:sp>
      <p:sp>
        <p:nvSpPr>
          <p:cNvPr id="40" name="Text 38"/>
          <p:cNvSpPr/>
          <p:nvPr/>
        </p:nvSpPr>
        <p:spPr>
          <a:xfrm>
            <a:off x="6400800" y="30632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12280" y="306324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提交报告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0" y="3566160"/>
            <a:ext cx="320040" cy="320040"/>
          </a:xfrm>
          <a:prstGeom prst="ellipse">
            <a:avLst/>
          </a:prstGeom>
          <a:solidFill>
            <a:srgbClr val="2E86AB"/>
          </a:solidFill>
        </p:spPr>
      </p:sp>
      <p:sp>
        <p:nvSpPr>
          <p:cNvPr id="43" name="Text 41"/>
          <p:cNvSpPr/>
          <p:nvPr/>
        </p:nvSpPr>
        <p:spPr>
          <a:xfrm>
            <a:off x="6400800" y="356616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12280" y="356616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等待批改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0" y="4069080"/>
            <a:ext cx="320040" cy="320040"/>
          </a:xfrm>
          <a:prstGeom prst="ellipse">
            <a:avLst/>
          </a:prstGeom>
          <a:solidFill>
            <a:srgbClr val="2E86AB"/>
          </a:solidFill>
        </p:spPr>
      </p:sp>
      <p:sp>
        <p:nvSpPr>
          <p:cNvPr id="46" name="Text 44"/>
          <p:cNvSpPr/>
          <p:nvPr/>
        </p:nvSpPr>
        <p:spPr>
          <a:xfrm>
            <a:off x="6400800" y="406908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12280" y="406908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查看成绩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 功能模块详解 - 题型支持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8CA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457200" y="4956048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Labex 实验教学管理系统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Shape 6"/>
          <p:cNvSpPr/>
          <p:nvPr/>
        </p:nvSpPr>
        <p:spPr>
          <a:xfrm>
            <a:off x="457200" y="1005840"/>
            <a:ext cx="457200" cy="68580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9" name="Text 7"/>
          <p:cNvSpPr/>
          <p:nvPr/>
        </p:nvSpPr>
        <p:spPr>
          <a:xfrm>
            <a:off x="457200" y="1005840"/>
            <a:ext cx="457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09728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单选题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1097280"/>
            <a:ext cx="6035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从多个选项中选择唯一正确答案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自动评分，立即显示结果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3" name="Shape 11"/>
          <p:cNvSpPr/>
          <p:nvPr/>
        </p:nvSpPr>
        <p:spPr>
          <a:xfrm>
            <a:off x="457200" y="1783080"/>
            <a:ext cx="457200" cy="68580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14" name="Text 12"/>
          <p:cNvSpPr/>
          <p:nvPr/>
        </p:nvSpPr>
        <p:spPr>
          <a:xfrm>
            <a:off x="457200" y="1783080"/>
            <a:ext cx="457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187452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多选题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1874520"/>
            <a:ext cx="6035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从多个选项中选择多个正确答案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部分得分可配置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Shape 16"/>
          <p:cNvSpPr/>
          <p:nvPr/>
        </p:nvSpPr>
        <p:spPr>
          <a:xfrm>
            <a:off x="457200" y="2560320"/>
            <a:ext cx="457200" cy="68580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19" name="Text 17"/>
          <p:cNvSpPr/>
          <p:nvPr/>
        </p:nvSpPr>
        <p:spPr>
          <a:xfrm>
            <a:off x="457200" y="2560320"/>
            <a:ext cx="457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5176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填空题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68880" y="2651760"/>
            <a:ext cx="6035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在空白处填写正确答案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支持模糊匹配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3" name="Shape 21"/>
          <p:cNvSpPr/>
          <p:nvPr/>
        </p:nvSpPr>
        <p:spPr>
          <a:xfrm>
            <a:off x="457200" y="3337560"/>
            <a:ext cx="457200" cy="68580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24" name="Text 22"/>
          <p:cNvSpPr/>
          <p:nvPr/>
        </p:nvSpPr>
        <p:spPr>
          <a:xfrm>
            <a:off x="457200" y="3337560"/>
            <a:ext cx="457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342900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判断题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68880" y="3429000"/>
            <a:ext cx="6035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判断陈述的正确性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二选一，简单直接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Shape 26"/>
          <p:cNvSpPr/>
          <p:nvPr/>
        </p:nvSpPr>
        <p:spPr>
          <a:xfrm>
            <a:off x="457200" y="4114800"/>
            <a:ext cx="457200" cy="68580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29" name="Text 27"/>
          <p:cNvSpPr/>
          <p:nvPr/>
        </p:nvSpPr>
        <p:spPr>
          <a:xfrm>
            <a:off x="457200" y="4114800"/>
            <a:ext cx="457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420624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简答题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468880" y="4206240"/>
            <a:ext cx="6035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自由发挥的主观题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需要教师手动批改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 安全与性能优化 - 安全性设计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8CA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457200" y="4956048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Labex 实验教学管理系统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73152" cy="17373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身份认证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JWT 无状态 Token 认证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801368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Token 有效期 24 小时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093976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支持 Token 自动续期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386584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支持强制下线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005840"/>
            <a:ext cx="73152" cy="17373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6" name="Text 14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密码安全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508760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BCrypt 强哈希加密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1801368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密码错误次数限制（5次）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093976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IP 地址绑定功能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386584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定期密码更新提醒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26080"/>
            <a:ext cx="73152" cy="17373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权限控制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429000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RBAC 角色权限模型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721608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@PreAuthorize 注解控制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014216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页面级权限验证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306824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按钮级权限隐藏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92608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926080"/>
            <a:ext cx="73152" cy="17373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0" name="Text 28"/>
          <p:cNvSpPr/>
          <p:nvPr/>
        </p:nvSpPr>
        <p:spPr>
          <a:xfrm>
            <a:off x="4937760" y="30175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日志审计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3429000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操作日志记录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721608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登录日志追踪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4014216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异常信息捕获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4306824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日志查询与导出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 安全与性能优化 - 性能优化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8CA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457200" y="4956048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Labex 实验教学管理系统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14300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Redis 缓存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3474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高频访问数据缓存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减少数据库查询压力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14300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164592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连接池优化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057400"/>
            <a:ext cx="3474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Druid 连接池配置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合理的连接复用策略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06324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 优化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977640"/>
            <a:ext cx="3474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索引优化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避免全表扫描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06324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54880" y="356616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文件上传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3977640"/>
            <a:ext cx="3474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支持 100MB 大文件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异步处理机制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 部署方案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8CA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Text 4"/>
          <p:cNvSpPr/>
          <p:nvPr/>
        </p:nvSpPr>
        <p:spPr>
          <a:xfrm>
            <a:off x="457200" y="4956048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Labex 实验教学管理系统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Docker 容器化部署架构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743200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3200400" y="137160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Nginx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2194560"/>
            <a:ext cx="2743200" cy="73152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11" name="Text 9"/>
          <p:cNvSpPr/>
          <p:nvPr/>
        </p:nvSpPr>
        <p:spPr>
          <a:xfrm>
            <a:off x="1371600" y="2194560"/>
            <a:ext cx="2743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Spring Boot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 Application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194560"/>
            <a:ext cx="2743200" cy="731520"/>
          </a:xfrm>
          <a:prstGeom prst="rect">
            <a:avLst/>
          </a:prstGeom>
          <a:solidFill>
            <a:srgbClr val="48CAE4"/>
          </a:solidFill>
        </p:spPr>
      </p:sp>
      <p:sp>
        <p:nvSpPr>
          <p:cNvPr id="13" name="Text 11"/>
          <p:cNvSpPr/>
          <p:nvPr/>
        </p:nvSpPr>
        <p:spPr>
          <a:xfrm>
            <a:off x="5029200" y="2194560"/>
            <a:ext cx="2743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Vue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Nginx Static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3200400"/>
            <a:ext cx="2743200" cy="7315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5" name="Text 13"/>
          <p:cNvSpPr/>
          <p:nvPr/>
        </p:nvSpPr>
        <p:spPr>
          <a:xfrm>
            <a:off x="1371600" y="3200400"/>
            <a:ext cx="2743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MySQL 8.0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3200400"/>
            <a:ext cx="2743200" cy="7315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7" name="Text 15"/>
          <p:cNvSpPr/>
          <p:nvPr/>
        </p:nvSpPr>
        <p:spPr>
          <a:xfrm>
            <a:off x="5029200" y="3200400"/>
            <a:ext cx="2743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Redis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CAF0F8"/>
          </a:solidFill>
        </p:spPr>
      </p:sp>
      <p:sp>
        <p:nvSpPr>
          <p:cNvPr id="19" name="Text 17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 docker-compose 一键部署：前端静态资源 + 后端服务 + MySQL + Redis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E86AB">
              <a:alpha val="5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48CAE4">
              <a:alpha val="6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  总结与展望</a:t>
            </a:r>
            <a:endParaRPr lang="en-US" sz="28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57200" y="1463040"/>
            <a:ext cx="3931920" cy="2103120"/>
          </a:xfrm>
          <a:prstGeom prst="rect">
            <a:avLst/>
          </a:prstGeom>
          <a:solidFill>
            <a:srgbClr val="FFFFFF">
              <a:alpha val="90000"/>
            </a:srgbClr>
          </a:solidFill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8CA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项目成果</a:t>
            </a:r>
            <a:endParaRPr lang="en-US" sz="14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640080" y="1965960"/>
            <a:ext cx="36576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完整的实验教学管理功能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前后端分离架构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安全可靠的认证授权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响应式界面设计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Docker 容器化部署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4754880" y="1463040"/>
            <a:ext cx="3931920" cy="2103120"/>
          </a:xfrm>
          <a:prstGeom prst="rect">
            <a:avLst/>
          </a:prstGeom>
          <a:solidFill>
            <a:srgbClr val="FFFFFF">
              <a:alpha val="90000"/>
            </a:srgbClr>
          </a:solidFill>
        </p:spPr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4754880" y="15544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8CA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未来规划</a:t>
            </a:r>
            <a:endParaRPr lang="en-US" sz="140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4937760" y="1965960"/>
            <a:ext cx="36576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移动端 App 开发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智能题库与自动组卷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学习数据分析与可视化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AI 辅助批改功能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微服务架构改造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3840480"/>
            <a:ext cx="2743200" cy="365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感谢观看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Labex 实验教学管理系统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5.6,&quot;left&quot;:36,&quot;top&quot;:115.2,&quot;width&quot;:648}"/>
</p:tagLst>
</file>

<file path=ppt/tags/tag2.xml><?xml version="1.0" encoding="utf-8"?>
<p:tagLst xmlns:p="http://schemas.openxmlformats.org/presentationml/2006/main">
  <p:tag name="KSO_WM_DIAGRAM_VIRTUALLY_FRAME" val="{&quot;height&quot;:165.6,&quot;left&quot;:36,&quot;top&quot;:115.2,&quot;width&quot;:648}"/>
</p:tagLst>
</file>

<file path=ppt/tags/tag3.xml><?xml version="1.0" encoding="utf-8"?>
<p:tagLst xmlns:p="http://schemas.openxmlformats.org/presentationml/2006/main">
  <p:tag name="KSO_WM_DIAGRAM_VIRTUALLY_FRAME" val="{&quot;height&quot;:165.6,&quot;left&quot;:36,&quot;top&quot;:115.2,&quot;width&quot;:648}"/>
</p:tagLst>
</file>

<file path=ppt/tags/tag4.xml><?xml version="1.0" encoding="utf-8"?>
<p:tagLst xmlns:p="http://schemas.openxmlformats.org/presentationml/2006/main">
  <p:tag name="KSO_WM_DIAGRAM_VIRTUALLY_FRAME" val="{&quot;height&quot;:165.6,&quot;left&quot;:36,&quot;top&quot;:115.2,&quot;width&quot;:648}"/>
</p:tagLst>
</file>

<file path=ppt/tags/tag5.xml><?xml version="1.0" encoding="utf-8"?>
<p:tagLst xmlns:p="http://schemas.openxmlformats.org/presentationml/2006/main">
  <p:tag name="KSO_WM_DIAGRAM_VIRTUALLY_FRAME" val="{&quot;height&quot;:165.6,&quot;left&quot;:36,&quot;top&quot;:115.2,&quot;width&quot;:648}"/>
</p:tagLst>
</file>

<file path=ppt/tags/tag6.xml><?xml version="1.0" encoding="utf-8"?>
<p:tagLst xmlns:p="http://schemas.openxmlformats.org/presentationml/2006/main">
  <p:tag name="KSO_WM_DIAGRAM_VIRTUALLY_FRAME" val="{&quot;height&quot;:165.6,&quot;left&quot;:36,&quot;top&quot;:115.2,&quot;width&quot;:64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3584</Words>
  <Application>WPS 演示</Application>
  <PresentationFormat>On-screen Show (16:9)</PresentationFormat>
  <Paragraphs>693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Arial Black</vt:lpstr>
      <vt:lpstr>Arial Black</vt:lpstr>
      <vt:lpstr>Arial Black</vt:lpstr>
      <vt:lpstr>Arial</vt:lpstr>
      <vt:lpstr>Arial</vt:lpstr>
      <vt:lpstr>Consolas</vt:lpstr>
      <vt:lpstr>Consolas</vt:lpstr>
      <vt:lpstr>Consolas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Labex 实验教学管理系统</dc:title>
  <dc:creator>Labex Team</dc:creator>
  <dc:subject>PptxGenJS Presentation</dc:subject>
  <cp:lastModifiedBy>Youth For Youth</cp:lastModifiedBy>
  <cp:revision>2</cp:revision>
  <dcterms:created xsi:type="dcterms:W3CDTF">2026-04-15T05:38:00Z</dcterms:created>
  <dcterms:modified xsi:type="dcterms:W3CDTF">2026-04-15T05:44:33Z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936CB66106B4464FB29691849F464E07_12</vt:lpwstr>
  </property>
  <property fmtid="{D5CDD505-2E9C-101B-9397-08002B2CF9AE}" pid="3" name="KSOProductBuildVer">
    <vt:lpwstr>2052-12.1.0.25225</vt:lpwstr>
  </property>
</Properties>
</file>